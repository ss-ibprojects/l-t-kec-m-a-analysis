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Poppins Semi-Bold" charset="1" panose="00000700000000000000"/>
      <p:regular r:id="rId19"/>
    </p:embeddedFont>
    <p:embeddedFont>
      <p:font typeface="Poppins Medium" charset="1" panose="000006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-1005336" y="-461956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10916344" y="46284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04750">
            <a:off x="12804501" y="452051"/>
            <a:ext cx="7637114" cy="5053457"/>
          </a:xfrm>
          <a:custGeom>
            <a:avLst/>
            <a:gdLst/>
            <a:ahLst/>
            <a:cxnLst/>
            <a:rect r="r" b="b" t="t" l="l"/>
            <a:pathLst>
              <a:path h="5053457" w="7637114">
                <a:moveTo>
                  <a:pt x="0" y="0"/>
                </a:moveTo>
                <a:lnTo>
                  <a:pt x="7637113" y="0"/>
                </a:lnTo>
                <a:lnTo>
                  <a:pt x="7637113" y="5053457"/>
                </a:lnTo>
                <a:lnTo>
                  <a:pt x="0" y="50534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5019389" y="5988820"/>
            <a:ext cx="1393222" cy="6254175"/>
            <a:chOff x="0" y="0"/>
            <a:chExt cx="660400" cy="2964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2964536"/>
            </a:xfrm>
            <a:custGeom>
              <a:avLst/>
              <a:gdLst/>
              <a:ahLst/>
              <a:cxnLst/>
              <a:rect r="r" b="b" t="t" l="l"/>
              <a:pathLst>
                <a:path h="2964536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76298"/>
                  </a:cubicBezTo>
                  <a:lnTo>
                    <a:pt x="660400" y="2964536"/>
                  </a:lnTo>
                  <a:lnTo>
                    <a:pt x="0" y="2964536"/>
                  </a:lnTo>
                  <a:lnTo>
                    <a:pt x="0" y="37821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60325"/>
              <a:ext cx="660400" cy="2904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851696" y="-1783737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2858016" y="8820019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3" y="0"/>
                </a:lnTo>
                <a:lnTo>
                  <a:pt x="6003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463851">
            <a:off x="-2021619" y="318835"/>
            <a:ext cx="6750322" cy="4466669"/>
          </a:xfrm>
          <a:custGeom>
            <a:avLst/>
            <a:gdLst/>
            <a:ahLst/>
            <a:cxnLst/>
            <a:rect r="r" b="b" t="t" l="l"/>
            <a:pathLst>
              <a:path h="4466669" w="6750322">
                <a:moveTo>
                  <a:pt x="6750322" y="0"/>
                </a:moveTo>
                <a:lnTo>
                  <a:pt x="0" y="0"/>
                </a:lnTo>
                <a:lnTo>
                  <a:pt x="0" y="4466670"/>
                </a:lnTo>
                <a:lnTo>
                  <a:pt x="6750322" y="4466670"/>
                </a:lnTo>
                <a:lnTo>
                  <a:pt x="67503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7259300" y="8641768"/>
            <a:ext cx="717992" cy="717992"/>
          </a:xfrm>
          <a:custGeom>
            <a:avLst/>
            <a:gdLst/>
            <a:ahLst/>
            <a:cxnLst/>
            <a:rect r="r" b="b" t="t" l="l"/>
            <a:pathLst>
              <a:path h="717992" w="717992">
                <a:moveTo>
                  <a:pt x="0" y="0"/>
                </a:moveTo>
                <a:lnTo>
                  <a:pt x="717992" y="0"/>
                </a:lnTo>
                <a:lnTo>
                  <a:pt x="717992" y="717992"/>
                </a:lnTo>
                <a:lnTo>
                  <a:pt x="0" y="7179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2700000">
            <a:off x="911018" y="9761865"/>
            <a:ext cx="1434036" cy="1512936"/>
            <a:chOff x="0" y="0"/>
            <a:chExt cx="377689" cy="3984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2700000">
            <a:off x="15571880" y="-159998"/>
            <a:ext cx="1602571" cy="1595902"/>
            <a:chOff x="0" y="0"/>
            <a:chExt cx="422076" cy="420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2076" cy="420320"/>
            </a:xfrm>
            <a:custGeom>
              <a:avLst/>
              <a:gdLst/>
              <a:ahLst/>
              <a:cxnLst/>
              <a:rect r="r" b="b" t="t" l="l"/>
              <a:pathLst>
                <a:path h="420320" w="422076">
                  <a:moveTo>
                    <a:pt x="0" y="0"/>
                  </a:moveTo>
                  <a:lnTo>
                    <a:pt x="422076" y="0"/>
                  </a:lnTo>
                  <a:lnTo>
                    <a:pt x="422076" y="420320"/>
                  </a:lnTo>
                  <a:lnTo>
                    <a:pt x="0" y="42032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22076" cy="486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54206" y="828461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79048" y="273663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51704" y="4582118"/>
            <a:ext cx="17001505" cy="326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59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Strategic Acquisition Analysis: Should Larsen &amp; Toubro acquire KEC International?</a:t>
            </a:r>
          </a:p>
          <a:p>
            <a:pPr algn="l">
              <a:lnSpc>
                <a:spcPts val="826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746997" y="8575093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14421" y="9030183"/>
            <a:ext cx="503057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Sanjana Stephen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11035" y="7316936"/>
            <a:ext cx="7103864" cy="110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rategic Acquisition Analysis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Larsen &amp; Toubro – KEC International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-647836" y="3143715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5" y="0"/>
                </a:lnTo>
                <a:lnTo>
                  <a:pt x="8300685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10781691" y="-870291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59042" y="1887390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91364" y="4724966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9" y="0"/>
                </a:lnTo>
                <a:lnTo>
                  <a:pt x="5406669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913439">
            <a:off x="10129424" y="7708043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091524" y="982856"/>
            <a:ext cx="9773081" cy="1482454"/>
            <a:chOff x="0" y="0"/>
            <a:chExt cx="2573980" cy="3904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73980" cy="390441"/>
            </a:xfrm>
            <a:custGeom>
              <a:avLst/>
              <a:gdLst/>
              <a:ahLst/>
              <a:cxnLst/>
              <a:rect r="r" b="b" t="t" l="l"/>
              <a:pathLst>
                <a:path h="390441" w="2573980">
                  <a:moveTo>
                    <a:pt x="0" y="0"/>
                  </a:moveTo>
                  <a:lnTo>
                    <a:pt x="2573980" y="0"/>
                  </a:lnTo>
                  <a:lnTo>
                    <a:pt x="2573980" y="390441"/>
                  </a:lnTo>
                  <a:lnTo>
                    <a:pt x="0" y="390441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573980" cy="457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387073" y="9258300"/>
            <a:ext cx="1206410" cy="1218914"/>
            <a:chOff x="0" y="0"/>
            <a:chExt cx="317738" cy="3210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7738" cy="321031"/>
            </a:xfrm>
            <a:custGeom>
              <a:avLst/>
              <a:gdLst/>
              <a:ahLst/>
              <a:cxnLst/>
              <a:rect r="r" b="b" t="t" l="l"/>
              <a:pathLst>
                <a:path h="321031" w="317738">
                  <a:moveTo>
                    <a:pt x="0" y="0"/>
                  </a:moveTo>
                  <a:lnTo>
                    <a:pt x="317738" y="0"/>
                  </a:lnTo>
                  <a:lnTo>
                    <a:pt x="317738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17738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259300" y="-190214"/>
            <a:ext cx="1206410" cy="1218914"/>
            <a:chOff x="0" y="0"/>
            <a:chExt cx="317738" cy="3210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738" cy="321031"/>
            </a:xfrm>
            <a:custGeom>
              <a:avLst/>
              <a:gdLst/>
              <a:ahLst/>
              <a:cxnLst/>
              <a:rect r="r" b="b" t="t" l="l"/>
              <a:pathLst>
                <a:path h="321031" w="317738">
                  <a:moveTo>
                    <a:pt x="0" y="0"/>
                  </a:moveTo>
                  <a:lnTo>
                    <a:pt x="317738" y="0"/>
                  </a:lnTo>
                  <a:lnTo>
                    <a:pt x="317738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317738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864606" y="-265633"/>
            <a:ext cx="2661507" cy="2496977"/>
          </a:xfrm>
          <a:custGeom>
            <a:avLst/>
            <a:gdLst/>
            <a:ahLst/>
            <a:cxnLst/>
            <a:rect r="r" b="b" t="t" l="l"/>
            <a:pathLst>
              <a:path h="2496977" w="2661507">
                <a:moveTo>
                  <a:pt x="0" y="0"/>
                </a:moveTo>
                <a:lnTo>
                  <a:pt x="2661506" y="0"/>
                </a:lnTo>
                <a:lnTo>
                  <a:pt x="2661506" y="2496977"/>
                </a:lnTo>
                <a:lnTo>
                  <a:pt x="0" y="24969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376693" y="1243148"/>
            <a:ext cx="10402357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INVESTMENT THESIS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15305" y="3184802"/>
            <a:ext cx="9780055" cy="653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Acq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uisition strengthens L&amp;T’s position in EPC and infrastructure segments</a:t>
            </a:r>
          </a:p>
          <a:p>
            <a:pPr algn="l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Enhances global footprint, particularly in transmission and railways</a:t>
            </a:r>
          </a:p>
          <a:p>
            <a:pPr algn="l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Synergies expected through operational efficiency and scale advantages</a:t>
            </a:r>
          </a:p>
          <a:p>
            <a:pPr algn="l">
              <a:lnSpc>
                <a:spcPts val="4339"/>
              </a:lnSpc>
            </a:pPr>
          </a:p>
          <a:p>
            <a:pPr algn="l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Transaction expected to be earnings accretive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-5917297">
            <a:off x="-2155649" y="-2934544"/>
            <a:ext cx="6368698" cy="5488660"/>
          </a:xfrm>
          <a:custGeom>
            <a:avLst/>
            <a:gdLst/>
            <a:ahLst/>
            <a:cxnLst/>
            <a:rect r="r" b="b" t="t" l="l"/>
            <a:pathLst>
              <a:path h="5488660" w="6368698">
                <a:moveTo>
                  <a:pt x="0" y="0"/>
                </a:moveTo>
                <a:lnTo>
                  <a:pt x="6368698" y="0"/>
                </a:lnTo>
                <a:lnTo>
                  <a:pt x="6368698" y="5488660"/>
                </a:lnTo>
                <a:lnTo>
                  <a:pt x="0" y="5488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7879167" y="-1708336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9535046" y="-297901"/>
            <a:ext cx="4988930" cy="4988930"/>
          </a:xfrm>
          <a:custGeom>
            <a:avLst/>
            <a:gdLst/>
            <a:ahLst/>
            <a:cxnLst/>
            <a:rect r="r" b="b" t="t" l="l"/>
            <a:pathLst>
              <a:path h="4988930" w="4988930">
                <a:moveTo>
                  <a:pt x="0" y="0"/>
                </a:moveTo>
                <a:lnTo>
                  <a:pt x="4988929" y="0"/>
                </a:lnTo>
                <a:lnTo>
                  <a:pt x="4988929" y="4988930"/>
                </a:lnTo>
                <a:lnTo>
                  <a:pt x="0" y="4988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6736" y="1757938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2"/>
                </a:lnTo>
                <a:lnTo>
                  <a:pt x="0" y="6250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752959">
            <a:off x="-5326295" y="3788961"/>
            <a:ext cx="8324419" cy="7174136"/>
          </a:xfrm>
          <a:custGeom>
            <a:avLst/>
            <a:gdLst/>
            <a:ahLst/>
            <a:cxnLst/>
            <a:rect r="r" b="b" t="t" l="l"/>
            <a:pathLst>
              <a:path h="7174136" w="8324419">
                <a:moveTo>
                  <a:pt x="0" y="0"/>
                </a:moveTo>
                <a:lnTo>
                  <a:pt x="8324420" y="0"/>
                </a:lnTo>
                <a:lnTo>
                  <a:pt x="8324420" y="7174136"/>
                </a:lnTo>
                <a:lnTo>
                  <a:pt x="0" y="7174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3031" y="4883199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91112" y="4798472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9640" y="7559419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1" y="0"/>
                </a:lnTo>
                <a:lnTo>
                  <a:pt x="366781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91112" y="7641679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350144">
            <a:off x="1316857" y="-5183339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259633" y="591683"/>
            <a:ext cx="11939219" cy="2595912"/>
            <a:chOff x="0" y="0"/>
            <a:chExt cx="3144486" cy="683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44486" cy="683697"/>
            </a:xfrm>
            <a:custGeom>
              <a:avLst/>
              <a:gdLst/>
              <a:ahLst/>
              <a:cxnLst/>
              <a:rect r="r" b="b" t="t" l="l"/>
              <a:pathLst>
                <a:path h="683697" w="3144486">
                  <a:moveTo>
                    <a:pt x="0" y="0"/>
                  </a:moveTo>
                  <a:lnTo>
                    <a:pt x="3144486" y="0"/>
                  </a:lnTo>
                  <a:lnTo>
                    <a:pt x="3144486" y="683697"/>
                  </a:lnTo>
                  <a:lnTo>
                    <a:pt x="0" y="683697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144486" cy="750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43600" y="1260671"/>
            <a:ext cx="10649391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INDUSTRY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79673" y="4680335"/>
            <a:ext cx="5713057" cy="218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Indian infrastructure sector project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ed to grow at 8–10% CAGR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380628" y="4661989"/>
            <a:ext cx="5086108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Government focus on capex, railways, and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 power transmission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79673" y="7464169"/>
            <a:ext cx="5142366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Increasing dem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and for integrated EPC solutions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71103" y="7435690"/>
            <a:ext cx="5086108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Increas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ing demand for integrated EPC solutions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643777" y="0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5380" y="-901500"/>
            <a:ext cx="10283828" cy="13195268"/>
            <a:chOff x="0" y="0"/>
            <a:chExt cx="2708498" cy="3475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8498" cy="3475297"/>
            </a:xfrm>
            <a:custGeom>
              <a:avLst/>
              <a:gdLst/>
              <a:ahLst/>
              <a:cxnLst/>
              <a:rect r="r" b="b" t="t" l="l"/>
              <a:pathLst>
                <a:path h="3475297" w="2708498">
                  <a:moveTo>
                    <a:pt x="0" y="0"/>
                  </a:moveTo>
                  <a:lnTo>
                    <a:pt x="2708498" y="0"/>
                  </a:lnTo>
                  <a:lnTo>
                    <a:pt x="2708498" y="3475297"/>
                  </a:lnTo>
                  <a:lnTo>
                    <a:pt x="0" y="34752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708498" cy="3541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9177516">
            <a:off x="-1430420" y="-4040474"/>
            <a:ext cx="7115412" cy="15060368"/>
            <a:chOff x="0" y="0"/>
            <a:chExt cx="1874018" cy="39665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74018" cy="3966516"/>
            </a:xfrm>
            <a:custGeom>
              <a:avLst/>
              <a:gdLst/>
              <a:ahLst/>
              <a:cxnLst/>
              <a:rect r="r" b="b" t="t" l="l"/>
              <a:pathLst>
                <a:path h="3966516" w="1874018">
                  <a:moveTo>
                    <a:pt x="0" y="0"/>
                  </a:moveTo>
                  <a:lnTo>
                    <a:pt x="1874018" y="0"/>
                  </a:lnTo>
                  <a:lnTo>
                    <a:pt x="1874018" y="3966516"/>
                  </a:lnTo>
                  <a:lnTo>
                    <a:pt x="0" y="39665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74018" cy="403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800000">
            <a:off x="-1785671" y="6482690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2"/>
                </a:lnTo>
                <a:lnTo>
                  <a:pt x="0" y="6250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69489" y="2452089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69489" y="4427159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69489" y="6596239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69489" y="8773107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2084" y="1962940"/>
            <a:ext cx="665864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ACQUIRER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37777" y="2393095"/>
            <a:ext cx="6252340" cy="164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Leading EPC and infrastructure company in I</a:t>
            </a: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ndia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406795" y="6417199"/>
            <a:ext cx="6283322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Presen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ce across eng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ineering, constru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ction, an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 tech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olo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8760" y="4188284"/>
            <a:ext cx="5435140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trong order book and dive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rsified proj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ect 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portfolio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68760" y="8355942"/>
            <a:ext cx="5556038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Robust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balance sheet supporting ac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qui</a:t>
            </a:r>
            <a:r>
              <a:rPr lang="en-US" b="true" sz="3099" strike="noStrike" u="none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10800000">
            <a:off x="15031949" y="-2034616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2"/>
                </a:lnTo>
                <a:lnTo>
                  <a:pt x="0" y="6250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480892" y="463024"/>
            <a:ext cx="1614216" cy="1614216"/>
          </a:xfrm>
          <a:custGeom>
            <a:avLst/>
            <a:gdLst/>
            <a:ahLst/>
            <a:cxnLst/>
            <a:rect r="r" b="b" t="t" l="l"/>
            <a:pathLst>
              <a:path h="1614216" w="1614216">
                <a:moveTo>
                  <a:pt x="0" y="0"/>
                </a:moveTo>
                <a:lnTo>
                  <a:pt x="1614216" y="0"/>
                </a:lnTo>
                <a:lnTo>
                  <a:pt x="1614216" y="1614216"/>
                </a:lnTo>
                <a:lnTo>
                  <a:pt x="0" y="1614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807108" y="7644084"/>
            <a:ext cx="1614216" cy="1614216"/>
          </a:xfrm>
          <a:custGeom>
            <a:avLst/>
            <a:gdLst/>
            <a:ahLst/>
            <a:cxnLst/>
            <a:rect r="r" b="b" t="t" l="l"/>
            <a:pathLst>
              <a:path h="1614216" w="1614216">
                <a:moveTo>
                  <a:pt x="0" y="0"/>
                </a:moveTo>
                <a:lnTo>
                  <a:pt x="1614216" y="0"/>
                </a:lnTo>
                <a:lnTo>
                  <a:pt x="1614216" y="1614216"/>
                </a:lnTo>
                <a:lnTo>
                  <a:pt x="0" y="1614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6046272">
            <a:off x="-2647774" y="-2377715"/>
            <a:ext cx="10024548" cy="6633216"/>
          </a:xfrm>
          <a:custGeom>
            <a:avLst/>
            <a:gdLst/>
            <a:ahLst/>
            <a:cxnLst/>
            <a:rect r="r" b="b" t="t" l="l"/>
            <a:pathLst>
              <a:path h="6633216" w="10024548">
                <a:moveTo>
                  <a:pt x="0" y="0"/>
                </a:moveTo>
                <a:lnTo>
                  <a:pt x="10024548" y="0"/>
                </a:lnTo>
                <a:lnTo>
                  <a:pt x="10024548" y="6633216"/>
                </a:lnTo>
                <a:lnTo>
                  <a:pt x="0" y="66332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6046272">
            <a:off x="13828683" y="4304429"/>
            <a:ext cx="10024548" cy="6633216"/>
          </a:xfrm>
          <a:custGeom>
            <a:avLst/>
            <a:gdLst/>
            <a:ahLst/>
            <a:cxnLst/>
            <a:rect r="r" b="b" t="t" l="l"/>
            <a:pathLst>
              <a:path h="6633216" w="10024548">
                <a:moveTo>
                  <a:pt x="0" y="0"/>
                </a:moveTo>
                <a:lnTo>
                  <a:pt x="10024548" y="0"/>
                </a:lnTo>
                <a:lnTo>
                  <a:pt x="10024548" y="6633216"/>
                </a:lnTo>
                <a:lnTo>
                  <a:pt x="0" y="66332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32875" y="1270132"/>
            <a:ext cx="1809750" cy="1697875"/>
          </a:xfrm>
          <a:custGeom>
            <a:avLst/>
            <a:gdLst/>
            <a:ahLst/>
            <a:cxnLst/>
            <a:rect r="r" b="b" t="t" l="l"/>
            <a:pathLst>
              <a:path h="1697875" w="1809750">
                <a:moveTo>
                  <a:pt x="0" y="0"/>
                </a:moveTo>
                <a:lnTo>
                  <a:pt x="1809750" y="0"/>
                </a:lnTo>
                <a:lnTo>
                  <a:pt x="1809750" y="1697874"/>
                </a:lnTo>
                <a:lnTo>
                  <a:pt x="0" y="16978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42084" y="4619449"/>
            <a:ext cx="4495919" cy="79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Larsen</a:t>
            </a:r>
            <a:r>
              <a:rPr lang="en-US" sz="4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&amp; Toubro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-1511138" y="3749640"/>
            <a:ext cx="5460105" cy="5460105"/>
          </a:xfrm>
          <a:custGeom>
            <a:avLst/>
            <a:gdLst/>
            <a:ahLst/>
            <a:cxnLst/>
            <a:rect r="r" b="b" t="t" l="l"/>
            <a:pathLst>
              <a:path h="5460105" w="5460105">
                <a:moveTo>
                  <a:pt x="0" y="0"/>
                </a:moveTo>
                <a:lnTo>
                  <a:pt x="5460104" y="0"/>
                </a:lnTo>
                <a:lnTo>
                  <a:pt x="5460104" y="5460104"/>
                </a:lnTo>
                <a:lnTo>
                  <a:pt x="0" y="5460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6589606" y="1684357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463851">
            <a:off x="-4738643" y="-1690880"/>
            <a:ext cx="11217039" cy="7422284"/>
          </a:xfrm>
          <a:custGeom>
            <a:avLst/>
            <a:gdLst/>
            <a:ahLst/>
            <a:cxnLst/>
            <a:rect r="r" b="b" t="t" l="l"/>
            <a:pathLst>
              <a:path h="7422284" w="11217039">
                <a:moveTo>
                  <a:pt x="11217039" y="0"/>
                </a:moveTo>
                <a:lnTo>
                  <a:pt x="0" y="0"/>
                </a:lnTo>
                <a:lnTo>
                  <a:pt x="0" y="7422284"/>
                </a:lnTo>
                <a:lnTo>
                  <a:pt x="11217039" y="7422284"/>
                </a:lnTo>
                <a:lnTo>
                  <a:pt x="112170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26130" y="1472278"/>
            <a:ext cx="4132689" cy="4035252"/>
            <a:chOff x="0" y="0"/>
            <a:chExt cx="866862" cy="8464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6862" cy="846446"/>
            </a:xfrm>
            <a:custGeom>
              <a:avLst/>
              <a:gdLst/>
              <a:ahLst/>
              <a:cxnLst/>
              <a:rect r="r" b="b" t="t" l="l"/>
              <a:pathLst>
                <a:path h="846446" w="866862">
                  <a:moveTo>
                    <a:pt x="866862" y="37467"/>
                  </a:moveTo>
                  <a:lnTo>
                    <a:pt x="866862" y="808979"/>
                  </a:lnTo>
                  <a:cubicBezTo>
                    <a:pt x="866862" y="829672"/>
                    <a:pt x="850087" y="846446"/>
                    <a:pt x="829395" y="846446"/>
                  </a:cubicBezTo>
                  <a:lnTo>
                    <a:pt x="37467" y="846446"/>
                  </a:lnTo>
                  <a:cubicBezTo>
                    <a:pt x="16774" y="846446"/>
                    <a:pt x="0" y="829672"/>
                    <a:pt x="0" y="808979"/>
                  </a:cubicBezTo>
                  <a:lnTo>
                    <a:pt x="0" y="37467"/>
                  </a:lnTo>
                  <a:cubicBezTo>
                    <a:pt x="0" y="16774"/>
                    <a:pt x="16774" y="0"/>
                    <a:pt x="37467" y="0"/>
                  </a:cubicBezTo>
                  <a:lnTo>
                    <a:pt x="829395" y="0"/>
                  </a:lnTo>
                  <a:cubicBezTo>
                    <a:pt x="850087" y="0"/>
                    <a:pt x="866862" y="16774"/>
                    <a:pt x="866862" y="37467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66862" cy="90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21934" y="1406290"/>
            <a:ext cx="4081859" cy="3985620"/>
            <a:chOff x="0" y="0"/>
            <a:chExt cx="866862" cy="8464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6862" cy="846446"/>
            </a:xfrm>
            <a:custGeom>
              <a:avLst/>
              <a:gdLst/>
              <a:ahLst/>
              <a:cxnLst/>
              <a:rect r="r" b="b" t="t" l="l"/>
              <a:pathLst>
                <a:path h="846446" w="866862">
                  <a:moveTo>
                    <a:pt x="866862" y="37933"/>
                  </a:moveTo>
                  <a:lnTo>
                    <a:pt x="866862" y="808513"/>
                  </a:lnTo>
                  <a:cubicBezTo>
                    <a:pt x="866862" y="829463"/>
                    <a:pt x="849878" y="846446"/>
                    <a:pt x="828928" y="846446"/>
                  </a:cubicBezTo>
                  <a:lnTo>
                    <a:pt x="37933" y="846446"/>
                  </a:lnTo>
                  <a:cubicBezTo>
                    <a:pt x="27873" y="846446"/>
                    <a:pt x="18224" y="842449"/>
                    <a:pt x="11110" y="835336"/>
                  </a:cubicBezTo>
                  <a:cubicBezTo>
                    <a:pt x="3997" y="828222"/>
                    <a:pt x="0" y="818573"/>
                    <a:pt x="0" y="808513"/>
                  </a:cubicBezTo>
                  <a:lnTo>
                    <a:pt x="0" y="37933"/>
                  </a:lnTo>
                  <a:cubicBezTo>
                    <a:pt x="0" y="27873"/>
                    <a:pt x="3997" y="18224"/>
                    <a:pt x="11110" y="11110"/>
                  </a:cubicBezTo>
                  <a:cubicBezTo>
                    <a:pt x="18224" y="3997"/>
                    <a:pt x="27873" y="0"/>
                    <a:pt x="37933" y="0"/>
                  </a:cubicBezTo>
                  <a:lnTo>
                    <a:pt x="828928" y="0"/>
                  </a:lnTo>
                  <a:cubicBezTo>
                    <a:pt x="838989" y="0"/>
                    <a:pt x="848637" y="3997"/>
                    <a:pt x="855751" y="11110"/>
                  </a:cubicBezTo>
                  <a:cubicBezTo>
                    <a:pt x="862865" y="18224"/>
                    <a:pt x="866862" y="27873"/>
                    <a:pt x="866862" y="37933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66862" cy="90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160676" y="1659829"/>
            <a:ext cx="821567" cy="821567"/>
          </a:xfrm>
          <a:custGeom>
            <a:avLst/>
            <a:gdLst/>
            <a:ahLst/>
            <a:cxnLst/>
            <a:rect r="r" b="b" t="t" l="l"/>
            <a:pathLst>
              <a:path h="821567" w="821567">
                <a:moveTo>
                  <a:pt x="0" y="0"/>
                </a:moveTo>
                <a:lnTo>
                  <a:pt x="821567" y="0"/>
                </a:lnTo>
                <a:lnTo>
                  <a:pt x="821567" y="821567"/>
                </a:lnTo>
                <a:lnTo>
                  <a:pt x="0" y="821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19297" y="1659829"/>
            <a:ext cx="821567" cy="821567"/>
          </a:xfrm>
          <a:custGeom>
            <a:avLst/>
            <a:gdLst/>
            <a:ahLst/>
            <a:cxnLst/>
            <a:rect r="r" b="b" t="t" l="l"/>
            <a:pathLst>
              <a:path h="821567" w="821567">
                <a:moveTo>
                  <a:pt x="0" y="0"/>
                </a:moveTo>
                <a:lnTo>
                  <a:pt x="821567" y="0"/>
                </a:lnTo>
                <a:lnTo>
                  <a:pt x="821567" y="821567"/>
                </a:lnTo>
                <a:lnTo>
                  <a:pt x="0" y="821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97253" y="5941315"/>
            <a:ext cx="4132689" cy="4035252"/>
            <a:chOff x="0" y="0"/>
            <a:chExt cx="866862" cy="8464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6862" cy="846446"/>
            </a:xfrm>
            <a:custGeom>
              <a:avLst/>
              <a:gdLst/>
              <a:ahLst/>
              <a:cxnLst/>
              <a:rect r="r" b="b" t="t" l="l"/>
              <a:pathLst>
                <a:path h="846446" w="866862">
                  <a:moveTo>
                    <a:pt x="866862" y="37467"/>
                  </a:moveTo>
                  <a:lnTo>
                    <a:pt x="866862" y="808979"/>
                  </a:lnTo>
                  <a:cubicBezTo>
                    <a:pt x="866862" y="829672"/>
                    <a:pt x="850087" y="846446"/>
                    <a:pt x="829395" y="846446"/>
                  </a:cubicBezTo>
                  <a:lnTo>
                    <a:pt x="37467" y="846446"/>
                  </a:lnTo>
                  <a:cubicBezTo>
                    <a:pt x="16774" y="846446"/>
                    <a:pt x="0" y="829672"/>
                    <a:pt x="0" y="808979"/>
                  </a:cubicBezTo>
                  <a:lnTo>
                    <a:pt x="0" y="37467"/>
                  </a:lnTo>
                  <a:cubicBezTo>
                    <a:pt x="0" y="16774"/>
                    <a:pt x="16774" y="0"/>
                    <a:pt x="37467" y="0"/>
                  </a:cubicBezTo>
                  <a:lnTo>
                    <a:pt x="829395" y="0"/>
                  </a:lnTo>
                  <a:cubicBezTo>
                    <a:pt x="850087" y="0"/>
                    <a:pt x="866862" y="16774"/>
                    <a:pt x="866862" y="37467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66862" cy="90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160676" y="6326598"/>
            <a:ext cx="821567" cy="821567"/>
          </a:xfrm>
          <a:custGeom>
            <a:avLst/>
            <a:gdLst/>
            <a:ahLst/>
            <a:cxnLst/>
            <a:rect r="r" b="b" t="t" l="l"/>
            <a:pathLst>
              <a:path h="821567" w="821567">
                <a:moveTo>
                  <a:pt x="0" y="0"/>
                </a:moveTo>
                <a:lnTo>
                  <a:pt x="821567" y="0"/>
                </a:lnTo>
                <a:lnTo>
                  <a:pt x="821567" y="821567"/>
                </a:lnTo>
                <a:lnTo>
                  <a:pt x="0" y="821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456369" y="5992461"/>
            <a:ext cx="4147424" cy="4049639"/>
            <a:chOff x="0" y="0"/>
            <a:chExt cx="866862" cy="8464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6862" cy="846446"/>
            </a:xfrm>
            <a:custGeom>
              <a:avLst/>
              <a:gdLst/>
              <a:ahLst/>
              <a:cxnLst/>
              <a:rect r="r" b="b" t="t" l="l"/>
              <a:pathLst>
                <a:path h="846446" w="866862">
                  <a:moveTo>
                    <a:pt x="866862" y="37334"/>
                  </a:moveTo>
                  <a:lnTo>
                    <a:pt x="866862" y="809112"/>
                  </a:lnTo>
                  <a:cubicBezTo>
                    <a:pt x="866862" y="829731"/>
                    <a:pt x="850147" y="846446"/>
                    <a:pt x="829528" y="846446"/>
                  </a:cubicBezTo>
                  <a:lnTo>
                    <a:pt x="37334" y="846446"/>
                  </a:lnTo>
                  <a:cubicBezTo>
                    <a:pt x="27432" y="846446"/>
                    <a:pt x="17936" y="842513"/>
                    <a:pt x="10935" y="835511"/>
                  </a:cubicBezTo>
                  <a:cubicBezTo>
                    <a:pt x="3933" y="828510"/>
                    <a:pt x="0" y="819014"/>
                    <a:pt x="0" y="809112"/>
                  </a:cubicBezTo>
                  <a:lnTo>
                    <a:pt x="0" y="37334"/>
                  </a:lnTo>
                  <a:cubicBezTo>
                    <a:pt x="0" y="27432"/>
                    <a:pt x="3933" y="17936"/>
                    <a:pt x="10935" y="10935"/>
                  </a:cubicBezTo>
                  <a:cubicBezTo>
                    <a:pt x="17936" y="3933"/>
                    <a:pt x="27432" y="0"/>
                    <a:pt x="37334" y="0"/>
                  </a:cubicBezTo>
                  <a:lnTo>
                    <a:pt x="829528" y="0"/>
                  </a:lnTo>
                  <a:cubicBezTo>
                    <a:pt x="839429" y="0"/>
                    <a:pt x="848925" y="3933"/>
                    <a:pt x="855927" y="10935"/>
                  </a:cubicBezTo>
                  <a:cubicBezTo>
                    <a:pt x="862928" y="17936"/>
                    <a:pt x="866862" y="27432"/>
                    <a:pt x="866862" y="37334"/>
                  </a:cubicBez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66862" cy="90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119297" y="6326598"/>
            <a:ext cx="821567" cy="821567"/>
          </a:xfrm>
          <a:custGeom>
            <a:avLst/>
            <a:gdLst/>
            <a:ahLst/>
            <a:cxnLst/>
            <a:rect r="r" b="b" t="t" l="l"/>
            <a:pathLst>
              <a:path h="821567" w="821567">
                <a:moveTo>
                  <a:pt x="0" y="0"/>
                </a:moveTo>
                <a:lnTo>
                  <a:pt x="821567" y="0"/>
                </a:lnTo>
                <a:lnTo>
                  <a:pt x="821567" y="821567"/>
                </a:lnTo>
                <a:lnTo>
                  <a:pt x="0" y="821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401415" y="4513356"/>
            <a:ext cx="6750664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TARGET</a:t>
            </a:r>
            <a:r>
              <a:rPr lang="en-US" b="true" sz="6800" strike="noStrike" u="non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 OVERVIEW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71999" y="2847339"/>
            <a:ext cx="3410932" cy="205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Global EPC</a:t>
            </a:r>
            <a:r>
              <a:rPr lang="en-US" b="true" sz="2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player focused on power transmission and railways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21870" y="2847339"/>
            <a:ext cx="3616421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Strong in</a:t>
            </a: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ternational presence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82814" y="7652249"/>
            <a:ext cx="3961566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rowing order book with diversified projects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-10800000">
            <a:off x="14938737" y="-1442416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2700000">
            <a:off x="17669919" y="272232"/>
            <a:ext cx="1434036" cy="1512936"/>
            <a:chOff x="0" y="0"/>
            <a:chExt cx="377689" cy="3984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2700000">
            <a:off x="16325897" y="-245055"/>
            <a:ext cx="501907" cy="583443"/>
            <a:chOff x="0" y="0"/>
            <a:chExt cx="132189" cy="1536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2189" cy="153664"/>
            </a:xfrm>
            <a:custGeom>
              <a:avLst/>
              <a:gdLst/>
              <a:ahLst/>
              <a:cxnLst/>
              <a:rect r="r" b="b" t="t" l="l"/>
              <a:pathLst>
                <a:path h="153664" w="132189">
                  <a:moveTo>
                    <a:pt x="0" y="0"/>
                  </a:moveTo>
                  <a:lnTo>
                    <a:pt x="132189" y="0"/>
                  </a:lnTo>
                  <a:lnTo>
                    <a:pt x="132189" y="153664"/>
                  </a:lnTo>
                  <a:lnTo>
                    <a:pt x="0" y="153664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32189" cy="22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-5400000">
            <a:off x="-454753" y="7958941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-5400000">
            <a:off x="-369508" y="9777783"/>
            <a:ext cx="1957931" cy="1218914"/>
            <a:chOff x="0" y="0"/>
            <a:chExt cx="515669" cy="3210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5669" cy="321031"/>
            </a:xfrm>
            <a:custGeom>
              <a:avLst/>
              <a:gdLst/>
              <a:ahLst/>
              <a:cxnLst/>
              <a:rect r="r" b="b" t="t" l="l"/>
              <a:pathLst>
                <a:path h="321031" w="515669">
                  <a:moveTo>
                    <a:pt x="0" y="0"/>
                  </a:moveTo>
                  <a:lnTo>
                    <a:pt x="515669" y="0"/>
                  </a:lnTo>
                  <a:lnTo>
                    <a:pt x="515669" y="321031"/>
                  </a:lnTo>
                  <a:lnTo>
                    <a:pt x="0" y="321031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515669" cy="387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4717247" y="208905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1456369" y="7652249"/>
            <a:ext cx="4147424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Stable</a:t>
            </a: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revenue growth and improving margins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585720" y="8080892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6602908" y="6770022"/>
            <a:ext cx="3895725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KEC International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5380" y="-901500"/>
            <a:ext cx="10283828" cy="13195268"/>
            <a:chOff x="0" y="0"/>
            <a:chExt cx="2708498" cy="3475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8498" cy="3475297"/>
            </a:xfrm>
            <a:custGeom>
              <a:avLst/>
              <a:gdLst/>
              <a:ahLst/>
              <a:cxnLst/>
              <a:rect r="r" b="b" t="t" l="l"/>
              <a:pathLst>
                <a:path h="3475297" w="2708498">
                  <a:moveTo>
                    <a:pt x="0" y="0"/>
                  </a:moveTo>
                  <a:lnTo>
                    <a:pt x="2708498" y="0"/>
                  </a:lnTo>
                  <a:lnTo>
                    <a:pt x="2708498" y="3475297"/>
                  </a:lnTo>
                  <a:lnTo>
                    <a:pt x="0" y="34752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708498" cy="3541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9177516">
            <a:off x="-1425869" y="-4059400"/>
            <a:ext cx="7032155" cy="15060368"/>
            <a:chOff x="0" y="0"/>
            <a:chExt cx="1852090" cy="39665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2090" cy="3966516"/>
            </a:xfrm>
            <a:custGeom>
              <a:avLst/>
              <a:gdLst/>
              <a:ahLst/>
              <a:cxnLst/>
              <a:rect r="r" b="b" t="t" l="l"/>
              <a:pathLst>
                <a:path h="3966516" w="1852090">
                  <a:moveTo>
                    <a:pt x="0" y="0"/>
                  </a:moveTo>
                  <a:lnTo>
                    <a:pt x="1852090" y="0"/>
                  </a:lnTo>
                  <a:lnTo>
                    <a:pt x="1852090" y="3966516"/>
                  </a:lnTo>
                  <a:lnTo>
                    <a:pt x="0" y="39665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52090" cy="403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25874" y="-2531294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098007" y="7249619"/>
            <a:ext cx="5406668" cy="5406668"/>
          </a:xfrm>
          <a:custGeom>
            <a:avLst/>
            <a:gdLst/>
            <a:ahLst/>
            <a:cxnLst/>
            <a:rect r="r" b="b" t="t" l="l"/>
            <a:pathLst>
              <a:path h="5406668" w="5406668">
                <a:moveTo>
                  <a:pt x="0" y="0"/>
                </a:moveTo>
                <a:lnTo>
                  <a:pt x="5406668" y="0"/>
                </a:lnTo>
                <a:lnTo>
                  <a:pt x="5406668" y="5406668"/>
                </a:lnTo>
                <a:lnTo>
                  <a:pt x="0" y="540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5346" y="3470784"/>
            <a:ext cx="2108093" cy="1977774"/>
          </a:xfrm>
          <a:custGeom>
            <a:avLst/>
            <a:gdLst/>
            <a:ahLst/>
            <a:cxnLst/>
            <a:rect r="r" b="b" t="t" l="l"/>
            <a:pathLst>
              <a:path h="1977774" w="2108093">
                <a:moveTo>
                  <a:pt x="0" y="0"/>
                </a:moveTo>
                <a:lnTo>
                  <a:pt x="2108092" y="0"/>
                </a:lnTo>
                <a:lnTo>
                  <a:pt x="2108092" y="1977774"/>
                </a:lnTo>
                <a:lnTo>
                  <a:pt x="0" y="1977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00032" y="4707247"/>
            <a:ext cx="2108093" cy="1977774"/>
          </a:xfrm>
          <a:custGeom>
            <a:avLst/>
            <a:gdLst/>
            <a:ahLst/>
            <a:cxnLst/>
            <a:rect r="r" b="b" t="t" l="l"/>
            <a:pathLst>
              <a:path h="1977774" w="2108093">
                <a:moveTo>
                  <a:pt x="0" y="0"/>
                </a:moveTo>
                <a:lnTo>
                  <a:pt x="2108093" y="0"/>
                </a:lnTo>
                <a:lnTo>
                  <a:pt x="2108093" y="1977775"/>
                </a:lnTo>
                <a:lnTo>
                  <a:pt x="0" y="19777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96801" y="456565"/>
            <a:ext cx="9040209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VALU</a:t>
            </a:r>
            <a:r>
              <a:rPr lang="en-US" sz="68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45366" y="1486535"/>
            <a:ext cx="11592046" cy="351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</a:pPr>
            <a:r>
              <a:rPr lang="en-US" b="true" sz="2200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DCF</a:t>
            </a:r>
            <a:r>
              <a:rPr lang="en-US" b="true" sz="2200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 Valuation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Enterprise Value: ₹30,000 Cr (approx.) </a:t>
            </a:r>
          </a:p>
          <a:p>
            <a:pPr algn="l">
              <a:lnSpc>
                <a:spcPts val="3080"/>
              </a:lnSpc>
            </a:pPr>
          </a:p>
          <a:p>
            <a:pPr algn="l" marL="0" indent="0" lvl="0">
              <a:lnSpc>
                <a:spcPts val="3080"/>
              </a:lnSpc>
            </a:pPr>
            <a:r>
              <a:rPr lang="en-US" b="true" sz="2200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Comparable Valuation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EV/EBITDA Multiple: ~11x </a:t>
            </a:r>
          </a:p>
          <a:p>
            <a:pPr algn="l">
              <a:lnSpc>
                <a:spcPts val="3080"/>
              </a:lnSpc>
            </a:pPr>
          </a:p>
          <a:p>
            <a:pPr algn="l" marL="0" indent="0" lvl="0">
              <a:lnSpc>
                <a:spcPts val="3080"/>
              </a:lnSpc>
            </a:pPr>
            <a:r>
              <a:rPr lang="en-US" b="true" sz="2200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Implied Value: </a:t>
            </a:r>
            <a:r>
              <a:rPr lang="en-US" sz="22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₹22,000 Cr </a:t>
            </a:r>
          </a:p>
          <a:p>
            <a:pPr algn="l" marL="0" indent="0" lvl="0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Valuation Range: </a:t>
            </a:r>
            <a:r>
              <a:rPr lang="en-US" sz="22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₹22K – ₹30K Cr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913439">
            <a:off x="9664228" y="6953325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917297">
            <a:off x="-2203877" y="-4081177"/>
            <a:ext cx="8033791" cy="6923667"/>
          </a:xfrm>
          <a:custGeom>
            <a:avLst/>
            <a:gdLst/>
            <a:ahLst/>
            <a:cxnLst/>
            <a:rect r="r" b="b" t="t" l="l"/>
            <a:pathLst>
              <a:path h="6923667" w="8033791">
                <a:moveTo>
                  <a:pt x="0" y="0"/>
                </a:moveTo>
                <a:lnTo>
                  <a:pt x="8033791" y="0"/>
                </a:lnTo>
                <a:lnTo>
                  <a:pt x="8033791" y="6923667"/>
                </a:lnTo>
                <a:lnTo>
                  <a:pt x="0" y="6923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77552" y="5143500"/>
            <a:ext cx="9878708" cy="3951483"/>
          </a:xfrm>
          <a:custGeom>
            <a:avLst/>
            <a:gdLst/>
            <a:ahLst/>
            <a:cxnLst/>
            <a:rect r="r" b="b" t="t" l="l"/>
            <a:pathLst>
              <a:path h="3951483" w="9878708">
                <a:moveTo>
                  <a:pt x="0" y="0"/>
                </a:moveTo>
                <a:lnTo>
                  <a:pt x="9878708" y="0"/>
                </a:lnTo>
                <a:lnTo>
                  <a:pt x="9878708" y="3951483"/>
                </a:lnTo>
                <a:lnTo>
                  <a:pt x="0" y="39514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849357" y="9443048"/>
            <a:ext cx="1159204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Enterprise Value: </a:t>
            </a:r>
            <a:r>
              <a:rPr lang="en-US" sz="2799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₹30,000 Cr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45760" y="1516889"/>
            <a:ext cx="11592046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</a:pPr>
            <a:r>
              <a:rPr lang="en-US" b="true" sz="2200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Key</a:t>
            </a:r>
            <a:r>
              <a:rPr lang="en-US" b="true" sz="2200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 Assumptions: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WACC: 11%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Ter</a:t>
            </a:r>
            <a:r>
              <a:rPr lang="en-US" sz="22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minal Growth: 4%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Tax: 25%</a:t>
            </a:r>
          </a:p>
          <a:p>
            <a:pPr algn="l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11248113" y="-1703364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6616071" y="229941"/>
            <a:ext cx="5988704" cy="5988704"/>
          </a:xfrm>
          <a:custGeom>
            <a:avLst/>
            <a:gdLst/>
            <a:ahLst/>
            <a:cxnLst/>
            <a:rect r="r" b="b" t="t" l="l"/>
            <a:pathLst>
              <a:path h="5988704" w="5988704">
                <a:moveTo>
                  <a:pt x="0" y="0"/>
                </a:moveTo>
                <a:lnTo>
                  <a:pt x="5988704" y="0"/>
                </a:lnTo>
                <a:lnTo>
                  <a:pt x="5988704" y="5988704"/>
                </a:lnTo>
                <a:lnTo>
                  <a:pt x="0" y="5988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06110" y="3617890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1"/>
                </a:lnTo>
                <a:lnTo>
                  <a:pt x="0" y="2221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370706" y="5538422"/>
            <a:ext cx="3815785" cy="1254571"/>
            <a:chOff x="0" y="0"/>
            <a:chExt cx="1004980" cy="330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4980" cy="330422"/>
            </a:xfrm>
            <a:custGeom>
              <a:avLst/>
              <a:gdLst/>
              <a:ahLst/>
              <a:cxnLst/>
              <a:rect r="r" b="b" t="t" l="l"/>
              <a:pathLst>
                <a:path h="330422" w="1004980">
                  <a:moveTo>
                    <a:pt x="0" y="0"/>
                  </a:moveTo>
                  <a:lnTo>
                    <a:pt x="1004980" y="0"/>
                  </a:lnTo>
                  <a:lnTo>
                    <a:pt x="10049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049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65654" y="3805436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5654" y="6292049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5654" y="8385009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-819827" y="-2930721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0"/>
                </a:lnTo>
                <a:lnTo>
                  <a:pt x="0" y="222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120691" y="0"/>
            <a:ext cx="1438181" cy="1254571"/>
            <a:chOff x="0" y="0"/>
            <a:chExt cx="378780" cy="3304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8780" cy="330422"/>
            </a:xfrm>
            <a:custGeom>
              <a:avLst/>
              <a:gdLst/>
              <a:ahLst/>
              <a:cxnLst/>
              <a:rect r="r" b="b" t="t" l="l"/>
              <a:pathLst>
                <a:path h="330422" w="378780">
                  <a:moveTo>
                    <a:pt x="0" y="0"/>
                  </a:moveTo>
                  <a:lnTo>
                    <a:pt x="378780" y="0"/>
                  </a:lnTo>
                  <a:lnTo>
                    <a:pt x="378780" y="330422"/>
                  </a:lnTo>
                  <a:lnTo>
                    <a:pt x="0" y="330422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78780" cy="397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273328" y="739904"/>
            <a:ext cx="1081512" cy="1101540"/>
          </a:xfrm>
          <a:custGeom>
            <a:avLst/>
            <a:gdLst/>
            <a:ahLst/>
            <a:cxnLst/>
            <a:rect r="r" b="b" t="t" l="l"/>
            <a:pathLst>
              <a:path h="1101540" w="1081512">
                <a:moveTo>
                  <a:pt x="0" y="0"/>
                </a:moveTo>
                <a:lnTo>
                  <a:pt x="1081512" y="0"/>
                </a:lnTo>
                <a:lnTo>
                  <a:pt x="1081512" y="1101539"/>
                </a:lnTo>
                <a:lnTo>
                  <a:pt x="0" y="1101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329960" y="597479"/>
            <a:ext cx="6827197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19"/>
              </a:lnSpc>
              <a:spcBef>
                <a:spcPct val="0"/>
              </a:spcBef>
            </a:pPr>
            <a:r>
              <a:rPr lang="en-US" b="true" sz="7199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SYNERGIES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7632" y="2271254"/>
            <a:ext cx="4974014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Synergies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45831" y="3498215"/>
            <a:ext cx="5916715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Cross-selling opportunities across in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frastructure projects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5831" y="5922726"/>
            <a:ext cx="6026218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Expansion into international ma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rkets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80753" y="8121594"/>
            <a:ext cx="5991295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Estimated revenu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 uplift: ~5%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7011907">
            <a:off x="9002127" y="8640451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1823948" y="8735609"/>
            <a:ext cx="425110" cy="2015607"/>
          </a:xfrm>
          <a:custGeom>
            <a:avLst/>
            <a:gdLst/>
            <a:ahLst/>
            <a:cxnLst/>
            <a:rect r="r" b="b" t="t" l="l"/>
            <a:pathLst>
              <a:path h="2015607" w="425110">
                <a:moveTo>
                  <a:pt x="0" y="0"/>
                </a:moveTo>
                <a:lnTo>
                  <a:pt x="425110" y="0"/>
                </a:lnTo>
                <a:lnTo>
                  <a:pt x="425110" y="2015607"/>
                </a:lnTo>
                <a:lnTo>
                  <a:pt x="0" y="20156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61845" y="3593465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610423" y="6292049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610423" y="8428815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532097" y="2175947"/>
            <a:ext cx="4974014" cy="10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Cost Synergies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589395" y="3488154"/>
            <a:ext cx="5916715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rocurement efficienci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es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595181" y="8289759"/>
            <a:ext cx="5916715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Esti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mated cost saving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s: ~2%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0595181" y="5922726"/>
            <a:ext cx="5678147" cy="218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Sha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red operational capabiliti</a:t>
            </a: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es 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AutoShape 30" id="30"/>
          <p:cNvSpPr/>
          <p:nvPr/>
        </p:nvSpPr>
        <p:spPr>
          <a:xfrm>
            <a:off x="465654" y="2926715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9843368" y="2907665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2644">
            <a:off x="-4268444" y="5197787"/>
            <a:ext cx="10097504" cy="6681491"/>
          </a:xfrm>
          <a:custGeom>
            <a:avLst/>
            <a:gdLst/>
            <a:ahLst/>
            <a:cxnLst/>
            <a:rect r="r" b="b" t="t" l="l"/>
            <a:pathLst>
              <a:path h="6681491" w="10097504">
                <a:moveTo>
                  <a:pt x="0" y="0"/>
                </a:moveTo>
                <a:lnTo>
                  <a:pt x="10097505" y="0"/>
                </a:lnTo>
                <a:lnTo>
                  <a:pt x="10097505" y="6681491"/>
                </a:lnTo>
                <a:lnTo>
                  <a:pt x="0" y="668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-2549116" y="1791669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273330">
            <a:off x="11751718" y="-1399844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55153" y="1660185"/>
            <a:ext cx="7909568" cy="7909568"/>
          </a:xfrm>
          <a:custGeom>
            <a:avLst/>
            <a:gdLst/>
            <a:ahLst/>
            <a:cxnLst/>
            <a:rect r="r" b="b" t="t" l="l"/>
            <a:pathLst>
              <a:path h="7909568" w="7909568">
                <a:moveTo>
                  <a:pt x="0" y="0"/>
                </a:moveTo>
                <a:lnTo>
                  <a:pt x="7909568" y="0"/>
                </a:lnTo>
                <a:lnTo>
                  <a:pt x="7909568" y="7909568"/>
                </a:lnTo>
                <a:lnTo>
                  <a:pt x="0" y="7909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59104" y="8032988"/>
            <a:ext cx="6571938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DEAL 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02739" y="2341532"/>
            <a:ext cx="7404031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Transaction structured as 60% c</a:t>
            </a: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ash, 40% debt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602739" y="4249738"/>
            <a:ext cx="8142334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L&amp;T’s balance shee</a:t>
            </a: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 supports partial leverage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602739" y="6626860"/>
            <a:ext cx="7877718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Efficient capital deployment wi</a:t>
            </a:r>
            <a:r>
              <a:rPr lang="en-US" b="true" sz="3099">
                <a:solidFill>
                  <a:srgbClr val="11111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 manageable risk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65071" y="6458820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65071" y="4561379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00776" y="2663938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400285" y="-2057400"/>
            <a:ext cx="6003024" cy="4114800"/>
          </a:xfrm>
          <a:custGeom>
            <a:avLst/>
            <a:gdLst/>
            <a:ahLst/>
            <a:cxnLst/>
            <a:rect r="r" b="b" t="t" l="l"/>
            <a:pathLst>
              <a:path h="4114800" w="6003024">
                <a:moveTo>
                  <a:pt x="0" y="0"/>
                </a:moveTo>
                <a:lnTo>
                  <a:pt x="6003024" y="0"/>
                </a:lnTo>
                <a:lnTo>
                  <a:pt x="60030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2700000">
            <a:off x="-717018" y="-337368"/>
            <a:ext cx="1434036" cy="1512936"/>
            <a:chOff x="0" y="0"/>
            <a:chExt cx="377689" cy="3984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2700000">
            <a:off x="2006223" y="-1379280"/>
            <a:ext cx="1434036" cy="1512936"/>
            <a:chOff x="0" y="0"/>
            <a:chExt cx="377689" cy="3984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7689" cy="398469"/>
            </a:xfrm>
            <a:custGeom>
              <a:avLst/>
              <a:gdLst/>
              <a:ahLst/>
              <a:cxnLst/>
              <a:rect r="r" b="b" t="t" l="l"/>
              <a:pathLst>
                <a:path h="398469" w="377689">
                  <a:moveTo>
                    <a:pt x="0" y="0"/>
                  </a:moveTo>
                  <a:lnTo>
                    <a:pt x="377689" y="0"/>
                  </a:lnTo>
                  <a:lnTo>
                    <a:pt x="377689" y="398469"/>
                  </a:lnTo>
                  <a:lnTo>
                    <a:pt x="0" y="398469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377689" cy="46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055947" y="7567628"/>
            <a:ext cx="2653663" cy="2923564"/>
            <a:chOff x="0" y="0"/>
            <a:chExt cx="698907" cy="7699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907" cy="769992"/>
            </a:xfrm>
            <a:custGeom>
              <a:avLst/>
              <a:gdLst/>
              <a:ahLst/>
              <a:cxnLst/>
              <a:rect r="r" b="b" t="t" l="l"/>
              <a:pathLst>
                <a:path h="769992" w="698907">
                  <a:moveTo>
                    <a:pt x="0" y="0"/>
                  </a:moveTo>
                  <a:lnTo>
                    <a:pt x="698907" y="0"/>
                  </a:lnTo>
                  <a:lnTo>
                    <a:pt x="698907" y="769992"/>
                  </a:lnTo>
                  <a:lnTo>
                    <a:pt x="0" y="769992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98907" cy="836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10033926">
            <a:off x="13054083" y="-1243796"/>
            <a:ext cx="8777370" cy="5807962"/>
          </a:xfrm>
          <a:custGeom>
            <a:avLst/>
            <a:gdLst/>
            <a:ahLst/>
            <a:cxnLst/>
            <a:rect r="r" b="b" t="t" l="l"/>
            <a:pathLst>
              <a:path h="5807962" w="8777370">
                <a:moveTo>
                  <a:pt x="0" y="0"/>
                </a:moveTo>
                <a:lnTo>
                  <a:pt x="8777370" y="0"/>
                </a:lnTo>
                <a:lnTo>
                  <a:pt x="8777370" y="5807962"/>
                </a:lnTo>
                <a:lnTo>
                  <a:pt x="0" y="580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305052" y="7925798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995627" y="1037500"/>
            <a:ext cx="442980" cy="442980"/>
          </a:xfrm>
          <a:custGeom>
            <a:avLst/>
            <a:gdLst/>
            <a:ahLst/>
            <a:cxnLst/>
            <a:rect r="r" b="b" t="t" l="l"/>
            <a:pathLst>
              <a:path h="442980" w="442980">
                <a:moveTo>
                  <a:pt x="0" y="0"/>
                </a:moveTo>
                <a:lnTo>
                  <a:pt x="442980" y="0"/>
                </a:lnTo>
                <a:lnTo>
                  <a:pt x="442980" y="442980"/>
                </a:lnTo>
                <a:lnTo>
                  <a:pt x="0" y="442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5380" y="-901500"/>
            <a:ext cx="10283828" cy="13195268"/>
            <a:chOff x="0" y="0"/>
            <a:chExt cx="2708498" cy="3475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8498" cy="3475297"/>
            </a:xfrm>
            <a:custGeom>
              <a:avLst/>
              <a:gdLst/>
              <a:ahLst/>
              <a:cxnLst/>
              <a:rect r="r" b="b" t="t" l="l"/>
              <a:pathLst>
                <a:path h="3475297" w="2708498">
                  <a:moveTo>
                    <a:pt x="0" y="0"/>
                  </a:moveTo>
                  <a:lnTo>
                    <a:pt x="2708498" y="0"/>
                  </a:lnTo>
                  <a:lnTo>
                    <a:pt x="2708498" y="3475297"/>
                  </a:lnTo>
                  <a:lnTo>
                    <a:pt x="0" y="34752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708498" cy="3541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36985" y="8147800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0"/>
                </a:lnTo>
                <a:lnTo>
                  <a:pt x="0" y="222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9177516">
            <a:off x="-1521244" y="-3662766"/>
            <a:ext cx="8777006" cy="15060368"/>
            <a:chOff x="0" y="0"/>
            <a:chExt cx="2311639" cy="39665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1639" cy="3966516"/>
            </a:xfrm>
            <a:custGeom>
              <a:avLst/>
              <a:gdLst/>
              <a:ahLst/>
              <a:cxnLst/>
              <a:rect r="r" b="b" t="t" l="l"/>
              <a:pathLst>
                <a:path h="3966516" w="2311639">
                  <a:moveTo>
                    <a:pt x="0" y="0"/>
                  </a:moveTo>
                  <a:lnTo>
                    <a:pt x="2311639" y="0"/>
                  </a:lnTo>
                  <a:lnTo>
                    <a:pt x="2311639" y="3966516"/>
                  </a:lnTo>
                  <a:lnTo>
                    <a:pt x="0" y="39665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311639" cy="403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-3657600" y="0"/>
            <a:ext cx="7315200" cy="2221000"/>
          </a:xfrm>
          <a:custGeom>
            <a:avLst/>
            <a:gdLst/>
            <a:ahLst/>
            <a:cxnLst/>
            <a:rect r="r" b="b" t="t" l="l"/>
            <a:pathLst>
              <a:path h="2221000" w="7315200">
                <a:moveTo>
                  <a:pt x="0" y="0"/>
                </a:moveTo>
                <a:lnTo>
                  <a:pt x="7315200" y="0"/>
                </a:lnTo>
                <a:lnTo>
                  <a:pt x="7315200" y="2221000"/>
                </a:lnTo>
                <a:lnTo>
                  <a:pt x="0" y="222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6572063">
            <a:off x="12012204" y="-5160911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39" y="0"/>
                </a:lnTo>
                <a:lnTo>
                  <a:pt x="9849239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57600" y="3383915"/>
            <a:ext cx="8838889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ntegration challenges across operations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19517" y="2201729"/>
            <a:ext cx="672586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RISKS</a:t>
            </a:r>
          </a:p>
          <a:p>
            <a:pPr algn="l">
              <a:lnSpc>
                <a:spcPts val="680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-177710" y="-190214"/>
            <a:ext cx="2791899" cy="1522518"/>
            <a:chOff x="0" y="0"/>
            <a:chExt cx="735315" cy="4009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5315" cy="400993"/>
            </a:xfrm>
            <a:custGeom>
              <a:avLst/>
              <a:gdLst/>
              <a:ahLst/>
              <a:cxnLst/>
              <a:rect r="r" b="b" t="t" l="l"/>
              <a:pathLst>
                <a:path h="400993" w="735315">
                  <a:moveTo>
                    <a:pt x="0" y="0"/>
                  </a:moveTo>
                  <a:lnTo>
                    <a:pt x="735315" y="0"/>
                  </a:lnTo>
                  <a:lnTo>
                    <a:pt x="735315" y="400993"/>
                  </a:lnTo>
                  <a:lnTo>
                    <a:pt x="0" y="400993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35315" cy="467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37309" y="8981638"/>
            <a:ext cx="2791899" cy="1522518"/>
            <a:chOff x="0" y="0"/>
            <a:chExt cx="735315" cy="4009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5315" cy="400993"/>
            </a:xfrm>
            <a:custGeom>
              <a:avLst/>
              <a:gdLst/>
              <a:ahLst/>
              <a:cxnLst/>
              <a:rect r="r" b="b" t="t" l="l"/>
              <a:pathLst>
                <a:path h="400993" w="735315">
                  <a:moveTo>
                    <a:pt x="0" y="0"/>
                  </a:moveTo>
                  <a:lnTo>
                    <a:pt x="735315" y="0"/>
                  </a:lnTo>
                  <a:lnTo>
                    <a:pt x="735315" y="400993"/>
                  </a:lnTo>
                  <a:lnTo>
                    <a:pt x="0" y="400993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35315" cy="467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384972" y="344258"/>
            <a:ext cx="548988" cy="2602961"/>
          </a:xfrm>
          <a:custGeom>
            <a:avLst/>
            <a:gdLst/>
            <a:ahLst/>
            <a:cxnLst/>
            <a:rect r="r" b="b" t="t" l="l"/>
            <a:pathLst>
              <a:path h="2602961" w="548988">
                <a:moveTo>
                  <a:pt x="0" y="0"/>
                </a:moveTo>
                <a:lnTo>
                  <a:pt x="548988" y="0"/>
                </a:lnTo>
                <a:lnTo>
                  <a:pt x="548988" y="2602961"/>
                </a:lnTo>
                <a:lnTo>
                  <a:pt x="0" y="26029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6656853">
            <a:off x="-3851192" y="3998071"/>
            <a:ext cx="9247020" cy="6118728"/>
          </a:xfrm>
          <a:custGeom>
            <a:avLst/>
            <a:gdLst/>
            <a:ahLst/>
            <a:cxnLst/>
            <a:rect r="r" b="b" t="t" l="l"/>
            <a:pathLst>
              <a:path h="6118728" w="9247020">
                <a:moveTo>
                  <a:pt x="9247020" y="0"/>
                </a:moveTo>
                <a:lnTo>
                  <a:pt x="0" y="0"/>
                </a:lnTo>
                <a:lnTo>
                  <a:pt x="0" y="6118728"/>
                </a:lnTo>
                <a:lnTo>
                  <a:pt x="9247020" y="6118728"/>
                </a:lnTo>
                <a:lnTo>
                  <a:pt x="924702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657600" y="5048250"/>
            <a:ext cx="8342185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Ex</a:t>
            </a: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ecution delays in large infrastructure projects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642061" y="7255510"/>
            <a:ext cx="8854428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ncrease in leverage due to debt financing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657600" y="8919845"/>
            <a:ext cx="7793197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sz="3099" b="tru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egulatory and approval risks 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509088" y="3429759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509088" y="5202177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509088" y="6974595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509088" y="8747013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73330">
            <a:off x="6043548" y="-1396864"/>
            <a:ext cx="7333741" cy="7333741"/>
          </a:xfrm>
          <a:custGeom>
            <a:avLst/>
            <a:gdLst/>
            <a:ahLst/>
            <a:cxnLst/>
            <a:rect r="r" b="b" t="t" l="l"/>
            <a:pathLst>
              <a:path h="7333741" w="7333741">
                <a:moveTo>
                  <a:pt x="0" y="0"/>
                </a:moveTo>
                <a:lnTo>
                  <a:pt x="7333741" y="0"/>
                </a:lnTo>
                <a:lnTo>
                  <a:pt x="7333741" y="7333740"/>
                </a:lnTo>
                <a:lnTo>
                  <a:pt x="0" y="7333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73330">
            <a:off x="11348109" y="3278765"/>
            <a:ext cx="8300686" cy="8300686"/>
          </a:xfrm>
          <a:custGeom>
            <a:avLst/>
            <a:gdLst/>
            <a:ahLst/>
            <a:cxnLst/>
            <a:rect r="r" b="b" t="t" l="l"/>
            <a:pathLst>
              <a:path h="8300686" w="8300686">
                <a:moveTo>
                  <a:pt x="0" y="0"/>
                </a:moveTo>
                <a:lnTo>
                  <a:pt x="8300686" y="0"/>
                </a:lnTo>
                <a:lnTo>
                  <a:pt x="8300686" y="8300686"/>
                </a:lnTo>
                <a:lnTo>
                  <a:pt x="0" y="8300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27357" y="3439693"/>
            <a:ext cx="5628742" cy="6250522"/>
          </a:xfrm>
          <a:custGeom>
            <a:avLst/>
            <a:gdLst/>
            <a:ahLst/>
            <a:cxnLst/>
            <a:rect r="r" b="b" t="t" l="l"/>
            <a:pathLst>
              <a:path h="6250522" w="5628742">
                <a:moveTo>
                  <a:pt x="0" y="0"/>
                </a:moveTo>
                <a:lnTo>
                  <a:pt x="5628742" y="0"/>
                </a:lnTo>
                <a:lnTo>
                  <a:pt x="5628742" y="6250522"/>
                </a:lnTo>
                <a:lnTo>
                  <a:pt x="0" y="6250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21847">
            <a:off x="13907632" y="-1452358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576807" y="-130943"/>
            <a:ext cx="4802587" cy="3291955"/>
          </a:xfrm>
          <a:custGeom>
            <a:avLst/>
            <a:gdLst/>
            <a:ahLst/>
            <a:cxnLst/>
            <a:rect r="r" b="b" t="t" l="l"/>
            <a:pathLst>
              <a:path h="3291955" w="4802587">
                <a:moveTo>
                  <a:pt x="0" y="0"/>
                </a:moveTo>
                <a:lnTo>
                  <a:pt x="4802586" y="0"/>
                </a:lnTo>
                <a:lnTo>
                  <a:pt x="4802586" y="3291955"/>
                </a:lnTo>
                <a:lnTo>
                  <a:pt x="0" y="32919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2700000">
            <a:off x="143347" y="510727"/>
            <a:ext cx="1085532" cy="1074163"/>
            <a:chOff x="0" y="0"/>
            <a:chExt cx="285901" cy="2829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5901" cy="282907"/>
            </a:xfrm>
            <a:custGeom>
              <a:avLst/>
              <a:gdLst/>
              <a:ahLst/>
              <a:cxnLst/>
              <a:rect r="r" b="b" t="t" l="l"/>
              <a:pathLst>
                <a:path h="282907" w="285901">
                  <a:moveTo>
                    <a:pt x="0" y="0"/>
                  </a:moveTo>
                  <a:lnTo>
                    <a:pt x="285901" y="0"/>
                  </a:lnTo>
                  <a:lnTo>
                    <a:pt x="285901" y="282907"/>
                  </a:lnTo>
                  <a:lnTo>
                    <a:pt x="0" y="282907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85901" cy="349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9570063">
            <a:off x="-8173762" y="4895503"/>
            <a:ext cx="9849240" cy="8488254"/>
          </a:xfrm>
          <a:custGeom>
            <a:avLst/>
            <a:gdLst/>
            <a:ahLst/>
            <a:cxnLst/>
            <a:rect r="r" b="b" t="t" l="l"/>
            <a:pathLst>
              <a:path h="8488254" w="9849240">
                <a:moveTo>
                  <a:pt x="0" y="0"/>
                </a:moveTo>
                <a:lnTo>
                  <a:pt x="9849240" y="0"/>
                </a:lnTo>
                <a:lnTo>
                  <a:pt x="9849240" y="8488254"/>
                </a:lnTo>
                <a:lnTo>
                  <a:pt x="0" y="848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28653" y="4050849"/>
            <a:ext cx="6094125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St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ro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strategic al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gnmen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095331" y="681597"/>
            <a:ext cx="11609399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599"/>
              </a:lnSpc>
              <a:spcBef>
                <a:spcPct val="0"/>
              </a:spcBef>
            </a:pPr>
            <a:r>
              <a:rPr lang="en-US" b="true" sz="7999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</a:t>
            </a:r>
            <a:r>
              <a:rPr lang="en-US" b="true" sz="7999" strike="noStrike" u="non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M</a:t>
            </a:r>
            <a:r>
              <a:rPr lang="en-US" b="true" sz="7999" strike="noStrike" u="none">
                <a:solidFill>
                  <a:srgbClr val="111111"/>
                </a:solidFill>
                <a:latin typeface="Agrandir Bold"/>
                <a:ea typeface="Agrandir Bold"/>
                <a:cs typeface="Agrandir Bold"/>
                <a:sym typeface="Agrandir Bold"/>
              </a:rPr>
              <a:t>MENDATION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28653" y="6156496"/>
            <a:ext cx="6121720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Value-accretive 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tr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nsac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ion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995281" y="8262143"/>
            <a:ext cx="7144861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Long-term growth po</a:t>
            </a:r>
            <a:r>
              <a:rPr lang="en-US" b="true" sz="3099" strike="noStrike" u="none">
                <a:solidFill>
                  <a:srgbClr val="111111"/>
                </a:solidFill>
                <a:latin typeface="Poppins Bold"/>
                <a:ea typeface="Poppins Bold"/>
                <a:cs typeface="Poppins Bold"/>
                <a:sym typeface="Poppins Bold"/>
              </a:rPr>
              <a:t>tential</a:t>
            </a:r>
            <a:r>
              <a:rPr lang="en-US" b="true" sz="3099" strike="noStrike" u="none">
                <a:solidFill>
                  <a:srgbClr val="21358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</a:p>
          <a:p>
            <a:pPr algn="l" marL="0" indent="0" lvl="1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133555" y="4146099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33555" y="6100690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1"/>
                </a:lnTo>
                <a:lnTo>
                  <a:pt x="0" y="7163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33555" y="8055281"/>
            <a:ext cx="716341" cy="716341"/>
          </a:xfrm>
          <a:custGeom>
            <a:avLst/>
            <a:gdLst/>
            <a:ahLst/>
            <a:cxnLst/>
            <a:rect r="r" b="b" t="t" l="l"/>
            <a:pathLst>
              <a:path h="716341" w="716341">
                <a:moveTo>
                  <a:pt x="0" y="0"/>
                </a:moveTo>
                <a:lnTo>
                  <a:pt x="716341" y="0"/>
                </a:lnTo>
                <a:lnTo>
                  <a:pt x="716341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DAHEkwfJa2w</dc:identifier>
  <dcterms:modified xsi:type="dcterms:W3CDTF">2011-08-01T06:04:30Z</dcterms:modified>
  <cp:revision>1</cp:revision>
  <dc:title>Strategic Acquisition Analysis: Should Larsen &amp; Toubro acquire KEC International?</dc:title>
</cp:coreProperties>
</file>